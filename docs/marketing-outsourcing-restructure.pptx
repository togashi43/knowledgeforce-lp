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51215" y="3840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8A8A8A"/>
                </a:solidFill>
                <a:latin typeface="Noto Sans JP"/>
                <a:ea typeface="Noto Sans JP"/>
              </a:rPr>
              <a:t>MODE-1 ／ KNOWLEDGE 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1089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RESTRUCTURING PLAN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8408" y="2651760"/>
            <a:ext cx="457200" cy="0"/>
          </a:xfrm>
          <a:prstGeom prst="bentConnector3">
            <a:avLst/>
          </a:prstGeom>
          <a:ln w="2540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1832" y="278892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4600" b="1">
                <a:solidFill>
                  <a:srgbClr val="111111"/>
                </a:solidFill>
                <a:latin typeface="Noto Sans JP"/>
                <a:ea typeface="Noto Sans JP"/>
              </a:rPr>
              <a:t>マーケティング受託事業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4600" b="1">
                <a:solidFill>
                  <a:srgbClr val="111111"/>
                </a:solidFill>
                <a:latin typeface="Noto Sans JP"/>
                <a:ea typeface="Noto Sans JP"/>
              </a:rPr>
              <a:t>再編プラン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4526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0">
                <a:solidFill>
                  <a:srgbClr val="666666"/>
                </a:solidFill>
                <a:latin typeface="Noto Sans JP"/>
                <a:ea typeface="Noto Sans JP"/>
              </a:rPr>
              <a:t>足切りラインなしの受託事業を、3プラン制へ再編する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5257800"/>
            <a:ext cx="2880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① 新規事業を立ち上げ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52578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257800"/>
            <a:ext cx="2880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5257800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② 成果報酬で伸ばす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52578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5257800"/>
            <a:ext cx="2880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257800"/>
            <a:ext cx="2880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③ グロースへ積み上げ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本再編の狙い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本再編の狙い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販売時だけでなく、サポート開始後もこちらから条件を提示し、稼働をLTVの高い顧客へ集中させる。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E3A5F"/>
                </a:solidFill>
                <a:latin typeface="Noto Sans JP"/>
                <a:ea typeface="Noto Sans JP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640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>
                <a:solidFill>
                  <a:srgbClr val="1E3A5F"/>
                </a:solidFill>
                <a:latin typeface="Noto Sans JP"/>
                <a:ea typeface="Noto Sans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4206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>
                <a:solidFill>
                  <a:srgbClr val="222222"/>
                </a:solidFill>
                <a:latin typeface="Noto Sans JP"/>
                <a:ea typeface="Noto Sans JP"/>
              </a:rPr>
              <a:t>受託のプラン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3529584"/>
            <a:ext cx="475488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3584448"/>
            <a:ext cx="640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>
                <a:solidFill>
                  <a:srgbClr val="1E3A5F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84448"/>
            <a:ext cx="4206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>
                <a:solidFill>
                  <a:srgbClr val="222222"/>
                </a:solidFill>
                <a:latin typeface="Noto Sans JP"/>
                <a:ea typeface="Noto Sans JP"/>
              </a:rPr>
              <a:t>マーケター基準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4370832"/>
            <a:ext cx="475488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425696"/>
            <a:ext cx="640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>
                <a:solidFill>
                  <a:srgbClr val="1E3A5F"/>
                </a:solidFill>
                <a:latin typeface="Noto Sans JP"/>
                <a:ea typeface="Noto Sans JP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25696"/>
            <a:ext cx="4206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>
                <a:solidFill>
                  <a:srgbClr val="222222"/>
                </a:solidFill>
                <a:latin typeface="Noto Sans JP"/>
                <a:ea typeface="Noto Sans JP"/>
              </a:rPr>
              <a:t>移行フロー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5212080"/>
            <a:ext cx="475488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0120" y="5266944"/>
            <a:ext cx="640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>
                <a:solidFill>
                  <a:srgbClr val="1E3A5F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66944"/>
            <a:ext cx="4206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>
                <a:solidFill>
                  <a:srgbClr val="222222"/>
                </a:solidFill>
                <a:latin typeface="Noto Sans JP"/>
                <a:ea typeface="Noto Sans JP"/>
              </a:rPr>
              <a:t>入出金フロー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20" y="6053328"/>
            <a:ext cx="475488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09360" y="2240280"/>
            <a:ext cx="4892040" cy="3703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240280"/>
            <a:ext cx="54864" cy="37033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62432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50" b="1">
                <a:solidFill>
                  <a:srgbClr val="111111"/>
                </a:solidFill>
                <a:latin typeface="Noto Sans JP"/>
                <a:ea typeface="Noto Sans JP"/>
              </a:rPr>
              <a:t>足切りの基準を、常時提示する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91840"/>
            <a:ext cx="4160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ジャンル・商品単価・SNS投稿数・レス速度・タスク進捗。開始後もこれらを満たさない顧客は足切り対象とする。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754880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</a:rPr>
              <a:t>稼働を </a:t>
            </a:r>
            <a:r>
              <a:rPr sz="1800" b="1">
                <a:solidFill>
                  <a:srgbClr val="1E3A5F"/>
                </a:solidFill>
                <a:latin typeface="Noto Sans JP"/>
                <a:ea typeface="Noto Sans JP"/>
              </a:rPr>
              <a:t>LTVの高い顧客</a:t>
            </a:r>
            <a:r>
              <a:rPr sz="1800" b="1">
                <a:solidFill>
                  <a:srgbClr val="222222"/>
                </a:solidFill>
                <a:latin typeface="Noto Sans JP"/>
                <a:ea typeface="Noto Sans JP"/>
              </a:rPr>
              <a:t> へ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800" b="1">
                <a:solidFill>
                  <a:srgbClr val="222222"/>
                </a:solidFill>
                <a:latin typeface="Noto Sans JP"/>
                <a:ea typeface="Noto Sans JP"/>
              </a:rPr>
              <a:t>集中させる。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事業再編の全体像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事業再編の全体像 ── 3つのプラン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立ち上げ（①）→ 成果報酬（②）→ グロース（③）へ積み上げる4段構成。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40280"/>
            <a:ext cx="2542032" cy="7863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222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KNOWLEDGE FORCE 特別プラン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26664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26664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月額利用額 ＋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担当者月5〜10万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813048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13048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作業者/プロモーター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599432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99432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月額利用額の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5385816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85816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利用者数・実績UP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66744" y="2240280"/>
            <a:ext cx="2542032" cy="786384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24" y="23317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9624" y="2606040"/>
            <a:ext cx="222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新規事業構築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6744" y="3026664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3026664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一括 200万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＋ナレフォ月額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66744" y="3813048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3813048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プロデューサー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66744" y="4599432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4599432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月額 5万円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66744" y="5385816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5385816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年商1000万へ育成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368" y="2240280"/>
            <a:ext cx="2542032" cy="78638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3317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2606040"/>
            <a:ext cx="222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ローンチ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3026664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3026664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成果報酬 50%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or 20%＋50万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3368" y="3813048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813048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プロデューサー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368" y="4599432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599432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利益の 15%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3368" y="5385816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5385816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立ち上げ済を伸ばす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79992" y="2240280"/>
            <a:ext cx="2542032" cy="78638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2331720"/>
            <a:ext cx="2267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2606040"/>
            <a:ext cx="222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グロース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9992" y="3026664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3026664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月50万〜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＋着座2万/件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79992" y="3813048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62872" y="3813048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本社＋クルー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79992" y="4599432"/>
            <a:ext cx="25420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62872" y="4599432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月額の10%＋着座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79992" y="5385816"/>
            <a:ext cx="2542032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62872" y="5385816"/>
            <a:ext cx="2221991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222222"/>
                </a:solidFill>
                <a:latin typeface="Noto Sans JP"/>
                <a:ea typeface="Noto Sans JP"/>
              </a:rPr>
              <a:t>LTV安定顧客を積上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" y="3026664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>
                <a:solidFill>
                  <a:srgbClr val="8A8A8A"/>
                </a:solidFill>
                <a:latin typeface="Noto Sans JP"/>
                <a:ea typeface="Noto Sans JP"/>
              </a:rPr>
              <a:t>料金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" y="3813048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>
                <a:solidFill>
                  <a:srgbClr val="8A8A8A"/>
                </a:solidFill>
                <a:latin typeface="Noto Sans JP"/>
                <a:ea typeface="Noto Sans JP"/>
              </a:rPr>
              <a:t>担当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" y="4599432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>
                <a:solidFill>
                  <a:srgbClr val="8A8A8A"/>
                </a:solidFill>
                <a:latin typeface="Noto Sans JP"/>
                <a:ea typeface="Noto Sans JP"/>
              </a:rPr>
              <a:t>報酬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160" y="5385816"/>
            <a:ext cx="8229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>
                <a:solidFill>
                  <a:srgbClr val="8A8A8A"/>
                </a:solidFill>
                <a:latin typeface="Noto Sans JP"/>
                <a:ea typeface="Noto Sans JP"/>
              </a:rPr>
              <a:t>位置づけ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受託のプラン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⓪ KNOWLEDGE FORCE 特別プラン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既存顧客の受け皿。個別CSで品質を担保し、利用者数・実績を積み上げる。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構成・料金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108960"/>
            <a:ext cx="290169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KNOWLEDGE FORCE 利用額</a:t>
            </a:r>
          </a:p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＋ 担当者への月額費用</a:t>
            </a:r>
          </a:p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500" b="1">
                <a:solidFill>
                  <a:srgbClr val="1E3A5F"/>
                </a:solidFill>
                <a:latin typeface="Noto Sans JP"/>
                <a:ea typeface="Noto Sans JP"/>
              </a:rPr>
              <a:t>　 月 5〜10万円</a:t>
            </a:r>
          </a:p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＋ 導入支援費用（単発）</a:t>
            </a:r>
          </a:p>
          <a:p>
            <a:pPr algn="l">
              <a:lnSpc>
                <a:spcPct val="190000"/>
              </a:lnSpc>
              <a:spcBef>
                <a:spcPts val="0"/>
              </a:spcBef>
            </a:pPr>
            <a:r>
              <a:rPr sz="1500" b="1">
                <a:solidFill>
                  <a:srgbClr val="1E3A5F"/>
                </a:solidFill>
                <a:latin typeface="Noto Sans JP"/>
                <a:ea typeface="Noto Sans JP"/>
              </a:rPr>
              <a:t>　 30〜50万円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820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423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担当・報酬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4232" y="3108960"/>
            <a:ext cx="29016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担当：</a:t>
            </a: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作業者／プロモーター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4232" y="379476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報酬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7656" y="4069080"/>
            <a:ext cx="295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600" b="1">
                <a:solidFill>
                  <a:srgbClr val="1E3A5F"/>
                </a:solidFill>
                <a:latin typeface="Noto Sans JP"/>
                <a:ea typeface="Noto Sans JP"/>
              </a:rPr>
              <a:t>10</a:t>
            </a:r>
            <a:r>
              <a:rPr sz="2600" b="1">
                <a:solidFill>
                  <a:srgbClr val="1E3A5F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4232" y="50292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月額利用額に対して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628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628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31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やること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2312" y="3108960"/>
            <a:ext cx="29565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月1回、使用方法の改善提案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KNOWLEDGE FORCE 利用者数UP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導入実績の積み上げ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受託のプラン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① 新規事業構築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設計〜初回ローンチ〜エバーグリーン設置まで自走支援。年商1000万へ育成し、②③を創出。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構成・料金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063240"/>
            <a:ext cx="29016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QMPSS 100万 ＋ ナレフォ月額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担当者 月10万 × 12ヶ月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402336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一括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4251960"/>
            <a:ext cx="295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400" b="1">
                <a:solidFill>
                  <a:srgbClr val="1E3A5F"/>
                </a:solidFill>
                <a:latin typeface="Noto Sans JP"/>
                <a:ea typeface="Noto Sans JP"/>
              </a:rPr>
              <a:t>200</a:t>
            </a: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516636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分割：月10万円</a:t>
            </a: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（一括は値引）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20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820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423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担当・報酬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4232" y="3108960"/>
            <a:ext cx="29016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顧客対応：</a:t>
            </a: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プロデューサー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作業：</a:t>
            </a: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プロモーター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＋ KNOWLEDGE FORCE 利用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4232" y="45720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プロデューサー報酬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7656" y="4846320"/>
            <a:ext cx="295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000" b="1">
                <a:solidFill>
                  <a:srgbClr val="1E3A5F"/>
                </a:solidFill>
                <a:latin typeface="Noto Sans JP"/>
                <a:ea typeface="Noto Sans JP"/>
              </a:rPr>
              <a:t>月 5</a:t>
            </a:r>
            <a:r>
              <a:rPr sz="1800" b="1">
                <a:solidFill>
                  <a:srgbClr val="1E3A5F"/>
                </a:solidFill>
                <a:latin typeface="Noto Sans JP"/>
                <a:ea typeface="Noto Sans JP"/>
              </a:rPr>
              <a:t>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628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628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31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やること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2312" y="3063240"/>
            <a:ext cx="295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プロダクト設計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初回ローンチ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リスト内企画 ×2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エバーグリーン設置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コラボ権利／仕組み作り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2312" y="5303520"/>
            <a:ext cx="290169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92312" y="5303520"/>
            <a:ext cx="4572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20328" y="5303520"/>
            <a:ext cx="277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11111"/>
                </a:solidFill>
                <a:latin typeface="Noto Sans JP"/>
                <a:ea typeface="Noto Sans JP"/>
              </a:rPr>
              <a:t>成果：担当顧客を年商1000万へ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受託のプラン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② ローンチ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立ち上げ済みの案件を伸ばすフェーズ。現プロデューサーが統括し、成果報酬で拡大する。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構成・料金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15468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成果報酬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3429000"/>
            <a:ext cx="295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800" b="1">
                <a:solidFill>
                  <a:srgbClr val="1E3A5F"/>
                </a:solidFill>
                <a:latin typeface="Noto Sans JP"/>
                <a:ea typeface="Noto Sans JP"/>
              </a:rPr>
              <a:t>50</a:t>
            </a:r>
            <a:r>
              <a:rPr sz="2800" b="1">
                <a:solidFill>
                  <a:srgbClr val="1E3A5F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4480560"/>
            <a:ext cx="2901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または </a:t>
            </a: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20%＋50万</a:t>
            </a: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 を選択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5120640"/>
            <a:ext cx="29016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固定をいただく場合のみ、経費先出し可。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20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820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423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担当・報酬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4232" y="3108960"/>
            <a:ext cx="29016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顧客対応：</a:t>
            </a: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プロデューサー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作業：</a:t>
            </a: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プロモーター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＋ KNOWLEDGE FORCE 利用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4232" y="45720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プロデューサー報酬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7656" y="4846320"/>
            <a:ext cx="295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3400" b="1">
                <a:solidFill>
                  <a:srgbClr val="1E3A5F"/>
                </a:solidFill>
                <a:latin typeface="Noto Sans JP"/>
                <a:ea typeface="Noto Sans JP"/>
              </a:rPr>
              <a:t>利益の 15</a:t>
            </a:r>
            <a:r>
              <a:rPr sz="2200" b="1">
                <a:solidFill>
                  <a:srgbClr val="1E3A5F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4232" y="5669280"/>
            <a:ext cx="2901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ラダー式を検討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6280" y="2240280"/>
            <a:ext cx="3413760" cy="3703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6280" y="2240280"/>
            <a:ext cx="34137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2312" y="2514600"/>
            <a:ext cx="2901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やること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2312" y="3108960"/>
            <a:ext cx="29565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プロダクト設計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ローンチ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リスト内企画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エバーグリーン設置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コラボ権利／仕組み作り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受託のプラン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③ グロース ── LTVを積み上げる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本社メンバーが顧客対応、プロモーター／クルーが作業。LTVが安定する顧客数を積み上げる。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86000"/>
            <a:ext cx="6766560" cy="54864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286000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料金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834640"/>
            <a:ext cx="676656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3-1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34640"/>
            <a:ext cx="1645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</a:rPr>
              <a:t>LTVマーケ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34640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Noto Sans JP"/>
                <a:ea typeface="Noto Sans JP"/>
              </a:rPr>
              <a:t>月50万 ＋ 着座2万/件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584448"/>
            <a:ext cx="6766560" cy="7498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584448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3-2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84448"/>
            <a:ext cx="1645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</a:rPr>
              <a:t>マーケ＋営業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584448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Noto Sans JP"/>
                <a:ea typeface="Noto Sans JP"/>
              </a:rPr>
              <a:t>成果 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334256"/>
            <a:ext cx="676656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334256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3-3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334256"/>
            <a:ext cx="1645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</a:rPr>
              <a:t>広告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334256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Noto Sans JP"/>
                <a:ea typeface="Noto Sans JP"/>
              </a:rPr>
              <a:t>広告費 20% ＋ 着座2万/件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084064"/>
            <a:ext cx="6766560" cy="7498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84064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3-4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084064"/>
            <a:ext cx="16459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50" b="1">
                <a:solidFill>
                  <a:srgbClr val="222222"/>
                </a:solidFill>
                <a:latin typeface="Noto Sans JP"/>
                <a:ea typeface="Noto Sans JP"/>
              </a:rPr>
              <a:t>コンサル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084064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Noto Sans JP"/>
                <a:ea typeface="Noto Sans JP"/>
              </a:rPr>
              <a:t>月50万 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0120" y="5833872"/>
            <a:ext cx="676656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38160" y="2286000"/>
            <a:ext cx="3063240" cy="354787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286000"/>
            <a:ext cx="306324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560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担当・報酬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154680"/>
            <a:ext cx="2606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顧客対応：</a:t>
            </a: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本社メンバー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作業：</a:t>
            </a: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プロモーター／クルー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29768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クルー報酬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457200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600" b="1">
                <a:solidFill>
                  <a:srgbClr val="1E3A5F"/>
                </a:solidFill>
                <a:latin typeface="Noto Sans JP"/>
                <a:ea typeface="Noto Sans JP"/>
              </a:rPr>
              <a:t>月額の10</a:t>
            </a:r>
            <a:r>
              <a:rPr sz="1800" b="1">
                <a:solidFill>
                  <a:srgbClr val="1E3A5F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34924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＋ 着座数 × 1,000円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マーケター報酬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マーケター報酬 ── パッケージ別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⓪ 月額の10% ／ ① 月5万円/案件 ／ ③ 月額の10%＋着座1,000円。② は案件数に応じた利率ラダー。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148840"/>
            <a:ext cx="341376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148840"/>
            <a:ext cx="45720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350008"/>
            <a:ext cx="295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666666"/>
                </a:solidFill>
                <a:latin typeface="Noto Sans JP"/>
                <a:ea typeface="Noto Sans JP"/>
              </a:rPr>
              <a:t>パッケージ 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2651760"/>
            <a:ext cx="295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3800" b="1">
                <a:solidFill>
                  <a:srgbClr val="1E3A5F"/>
                </a:solidFill>
                <a:latin typeface="Noto Sans JP"/>
                <a:ea typeface="Noto Sans JP"/>
              </a:rPr>
              <a:t>10</a:t>
            </a:r>
            <a:r>
              <a:rPr sz="1800" b="1">
                <a:solidFill>
                  <a:srgbClr val="1E3A5F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834640"/>
            <a:ext cx="1493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月額報酬に対して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8200" y="2148840"/>
            <a:ext cx="341376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8200" y="2148840"/>
            <a:ext cx="45720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4232" y="2350008"/>
            <a:ext cx="295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666666"/>
                </a:solidFill>
                <a:latin typeface="Noto Sans JP"/>
                <a:ea typeface="Noto Sans JP"/>
              </a:rPr>
              <a:t>パッケージ 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5944" y="2651760"/>
            <a:ext cx="295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3800" b="1">
                <a:solidFill>
                  <a:srgbClr val="1E3A5F"/>
                </a:solidFill>
                <a:latin typeface="Noto Sans JP"/>
                <a:ea typeface="Noto Sans JP"/>
              </a:rPr>
              <a:t>5</a:t>
            </a:r>
            <a:r>
              <a:rPr sz="1800" b="1">
                <a:solidFill>
                  <a:srgbClr val="1E3A5F"/>
                </a:solidFill>
                <a:latin typeface="Noto Sans JP"/>
                <a:ea typeface="Noto Sans JP"/>
              </a:rPr>
              <a:t>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2834640"/>
            <a:ext cx="1493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1案件あたり月額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6280" y="2148840"/>
            <a:ext cx="341376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6280" y="2148840"/>
            <a:ext cx="45720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312" y="2350008"/>
            <a:ext cx="295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666666"/>
                </a:solidFill>
                <a:latin typeface="Noto Sans JP"/>
                <a:ea typeface="Noto Sans JP"/>
              </a:rPr>
              <a:t>パッケージ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4024" y="2651760"/>
            <a:ext cx="295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3800" b="1">
                <a:solidFill>
                  <a:srgbClr val="1E3A5F"/>
                </a:solidFill>
                <a:latin typeface="Noto Sans JP"/>
                <a:ea typeface="Noto Sans JP"/>
              </a:rPr>
              <a:t>10</a:t>
            </a:r>
            <a:r>
              <a:rPr sz="1800" b="1">
                <a:solidFill>
                  <a:srgbClr val="1E3A5F"/>
                </a:solidFill>
                <a:latin typeface="Noto Sans JP"/>
                <a:ea typeface="Noto Sans JP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5080" y="2834640"/>
            <a:ext cx="1493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＋ 着座成果 1,000円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94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パッケージ ② ── 案件数に応じた利率ラダー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5212079"/>
            <a:ext cx="1783080" cy="105156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20240" y="5212079"/>
            <a:ext cx="178308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754879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633679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〜5件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4800600"/>
            <a:ext cx="1783080" cy="146304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4800600"/>
            <a:ext cx="178308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434340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633679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5〜7件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389120"/>
            <a:ext cx="1783080" cy="1874519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4389120"/>
            <a:ext cx="178308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93192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633679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7〜10件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977639"/>
            <a:ext cx="1783080" cy="22860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78240" y="3977639"/>
            <a:ext cx="178308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3520439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633679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10〜15件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28800" y="6263640"/>
            <a:ext cx="9326880" cy="0"/>
          </a:xfrm>
          <a:prstGeom prst="bentConnector3">
            <a:avLst/>
          </a:prstGeom>
          <a:ln w="177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09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マーケター基準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誰がどの役割になれるか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共通判定軸で判定をブレさせず、役割ごとに必要ラインを設定。積極的に入れ替えを起こす。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86000"/>
            <a:ext cx="3200400" cy="36576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286000"/>
            <a:ext cx="320040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5420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共通判定軸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154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・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コミット度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5570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・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クライアントワーク経験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9593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・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セールス・商談力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43616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・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マーケ設計力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7640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・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広告運用スキル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5166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・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同時案件マネジメント数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55686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1E3A5F"/>
                </a:solidFill>
                <a:latin typeface="Noto Sans JP"/>
                <a:ea typeface="Noto Sans JP"/>
              </a:rPr>
              <a:t>・ </a:t>
            </a: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実績（到達年商）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286000"/>
            <a:ext cx="6766560" cy="502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28600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役割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860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要件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8600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成果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788920"/>
            <a:ext cx="676656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788920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作業者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788920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指示に沿った実作業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788920"/>
            <a:ext cx="1737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制作物のクオリティ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575303"/>
            <a:ext cx="6766560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575303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① 担当者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75303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設計〜EG設置まで自走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575303"/>
            <a:ext cx="1737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年商1000万・②③創出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361688"/>
            <a:ext cx="6766560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361688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② プロデューサー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61688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戦略・設計・5〜10案件管理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361688"/>
            <a:ext cx="1737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顧客LTV（流通売上）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5148072"/>
            <a:ext cx="6766560" cy="78638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5148072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③ グロース担当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148072"/>
            <a:ext cx="2743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LTVマーケ／広告運用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148072"/>
            <a:ext cx="17373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顧客LTV設計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80560" y="5934456"/>
            <a:ext cx="676656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480560" y="604418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※ 打ち切り案件の多い担当者には新規案件を渡さない（ルールを制定）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移行フロー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移行フロー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マーケター周知 → 顧客セグメント分け → 個別周知 → 契約締結。準備中のローンチまでは支援する。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514600"/>
            <a:ext cx="2388870" cy="2743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514600"/>
            <a:ext cx="238887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3888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154680"/>
            <a:ext cx="198653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</a:rPr>
              <a:t>マーケターへ周知・役割確定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4114800"/>
            <a:ext cx="20231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作業者／プロデューサー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／グロース担当に区分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7278" y="36576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0470" y="2514600"/>
            <a:ext cx="238887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60470" y="2514600"/>
            <a:ext cx="238887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0470" y="2514600"/>
            <a:ext cx="23888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1638" y="3154680"/>
            <a:ext cx="198653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</a:rPr>
              <a:t>既存顧客をセグメント分け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1638" y="4114800"/>
            <a:ext cx="20231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そのまま＝年商1000万↑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足切り＝条件未達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7628" y="36576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0820" y="2514600"/>
            <a:ext cx="2388870" cy="2743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0820" y="2514600"/>
            <a:ext cx="238887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0820" y="2514600"/>
            <a:ext cx="23888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1988" y="3154680"/>
            <a:ext cx="198653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</a:rPr>
              <a:t>顧客へ個別周知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1988" y="4114800"/>
            <a:ext cx="20231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継続相手に新条件を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「開始後も足切り対象」と明示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7978" y="365760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000" b="1">
                <a:solidFill>
                  <a:srgbClr val="1E3A5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1170" y="2514600"/>
            <a:ext cx="238887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61170" y="2514600"/>
            <a:ext cx="238887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1170" y="2514600"/>
            <a:ext cx="238887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2338" y="3154680"/>
            <a:ext cx="198653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Noto Sans JP"/>
                <a:ea typeface="Noto Sans JP"/>
              </a:rPr>
              <a:t>契約締結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2338" y="4114800"/>
            <a:ext cx="202311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既存終了処理と新契約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Noto Sans JP"/>
                <a:ea typeface="Noto Sans JP"/>
              </a:rPr>
              <a:t>―  </a:t>
            </a:r>
            <a:r>
              <a:rPr sz="1100" b="0">
                <a:solidFill>
                  <a:srgbClr val="666666"/>
                </a:solidFill>
                <a:latin typeface="Noto Sans JP"/>
                <a:ea typeface="Noto Sans JP"/>
              </a:rPr>
              <a:t>ローンチまで支援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5321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足切り顧客は </a:t>
            </a:r>
            <a:r>
              <a:rPr sz="1200" b="1">
                <a:solidFill>
                  <a:srgbClr val="1E3A5F"/>
                </a:solidFill>
                <a:latin typeface="Noto Sans JP"/>
                <a:ea typeface="Noto Sans JP"/>
              </a:rPr>
              <a:t>KNOWLEDGE FORCE 導入＋支援 基本30万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（断られそうな相手は裁量で導入費のみ）へダウンセル。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入出金フロー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入金フロー（顧客 → MODE-1）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パッケージごとに入金タイミングと制作費の負担者を定義する。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1527" y="187451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200" b="1">
                <a:solidFill>
                  <a:srgbClr val="1E3A5F"/>
                </a:solidFill>
                <a:latin typeface="Noto Sans JP"/>
                <a:ea typeface="Noto Sans JP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8A8A8A"/>
                </a:solidFill>
                <a:latin typeface="Noto Sans JP"/>
                <a:ea typeface="Noto Sans JP"/>
              </a:rPr>
              <a:t>顧客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295" y="184708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8A8A8A"/>
                </a:solidFill>
                <a:latin typeface="Noto Sans JP"/>
                <a:ea typeface="Noto Sans JP"/>
              </a:rPr>
              <a:t>MODE-1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468880"/>
            <a:ext cx="3413760" cy="3383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468880"/>
            <a:ext cx="3413760" cy="56692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468880"/>
            <a:ext cx="3413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パッケージ 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246120"/>
            <a:ext cx="295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E3A5F"/>
                </a:solidFill>
                <a:latin typeface="Noto Sans JP"/>
                <a:ea typeface="Noto Sans JP"/>
              </a:rPr>
              <a:t>開始時に一括入金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703320"/>
            <a:ext cx="29016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500" b="1">
                <a:solidFill>
                  <a:srgbClr val="1E3A5F"/>
                </a:solidFill>
                <a:latin typeface="Noto Sans JP"/>
                <a:ea typeface="Noto Sans JP"/>
              </a:rPr>
              <a:t>コンパス 100万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＋ 12ヶ月分を一括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（分割よりお得に設計）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16152" y="5166360"/>
            <a:ext cx="2901696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6152" y="5303520"/>
            <a:ext cx="295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制作費：月額報酬に内包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8200" y="2468880"/>
            <a:ext cx="3413760" cy="3383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8200" y="2468880"/>
            <a:ext cx="3413760" cy="56692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8200" y="2468880"/>
            <a:ext cx="3413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パッケージ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4232" y="3246120"/>
            <a:ext cx="295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E3A5F"/>
                </a:solidFill>
                <a:latin typeface="Noto Sans JP"/>
                <a:ea typeface="Noto Sans JP"/>
              </a:rPr>
              <a:t>月次で成果報酬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4232" y="3703320"/>
            <a:ext cx="29016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顧客の月次売上が確定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500" b="1">
                <a:solidFill>
                  <a:srgbClr val="1E3A5F"/>
                </a:solidFill>
                <a:latin typeface="Noto Sans JP"/>
                <a:ea typeface="Noto Sans JP"/>
              </a:rPr>
              <a:t>→ 請求 → 入金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（成果報酬）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04232" y="5166360"/>
            <a:ext cx="2901696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04232" y="5303520"/>
            <a:ext cx="295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制作費：プロデューサー負担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6280" y="2468880"/>
            <a:ext cx="3413760" cy="3383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6280" y="2468880"/>
            <a:ext cx="3413760" cy="56692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6280" y="2468880"/>
            <a:ext cx="3413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Noto Sans JP"/>
                <a:ea typeface="Noto Sans JP"/>
              </a:rPr>
              <a:t>パッケージ 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2312" y="3246120"/>
            <a:ext cx="295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E3A5F"/>
                </a:solidFill>
                <a:latin typeface="Noto Sans JP"/>
                <a:ea typeface="Noto Sans JP"/>
              </a:rPr>
              <a:t>月額固定＋変動費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2312" y="3703320"/>
            <a:ext cx="29016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固定：コンサル/LTV 50万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500" b="1">
                <a:solidFill>
                  <a:srgbClr val="1E3A5F"/>
                </a:solidFill>
                <a:latin typeface="Noto Sans JP"/>
                <a:ea typeface="Noto Sans JP"/>
              </a:rPr>
              <a:t>＋ 変動費を月次精算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（着座2万×件数 or 広告20%）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2312" y="5166360"/>
            <a:ext cx="2901696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2312" y="5303520"/>
            <a:ext cx="295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666666"/>
                </a:solidFill>
                <a:latin typeface="Noto Sans JP"/>
                <a:ea typeface="Noto Sans JP"/>
              </a:rPr>
              <a:t>制作費：月額報酬に内包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入出金フロー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売上把握の座組み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契約書で商談録画・振り返りの提出を義務化し、本部がデイリーで売上を管理する。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E3A5F"/>
                </a:solidFill>
                <a:latin typeface="Noto Sans JP"/>
                <a:ea typeface="Noto Sans JP"/>
              </a:rPr>
              <a:t>提出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651760"/>
            <a:ext cx="3017520" cy="2194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651760"/>
            <a:ext cx="301752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29718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</a:rPr>
              <a:t>クライアント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3566160"/>
            <a:ext cx="2103119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4439" y="37033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商談録画・振り返りを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リアルタイム提出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39" y="4389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8A8A8A"/>
                </a:solidFill>
                <a:latin typeface="Noto Sans JP"/>
                <a:ea typeface="Noto Sans JP"/>
              </a:rPr>
              <a:t>（契約書で義務化）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7" y="35204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200" b="1">
                <a:solidFill>
                  <a:srgbClr val="1E3A5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945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E3A5F"/>
                </a:solidFill>
                <a:latin typeface="Noto Sans JP"/>
                <a:ea typeface="Noto Sans JP"/>
              </a:rPr>
              <a:t>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651760"/>
            <a:ext cx="301752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2651760"/>
            <a:ext cx="301752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9718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</a:rPr>
              <a:t>プロデューサー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3566160"/>
            <a:ext cx="2103119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20640" y="37033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アポ日の管理・録画収集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確認・本部報告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7" y="35204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2200" b="1">
                <a:solidFill>
                  <a:srgbClr val="1E3A5F"/>
                </a:solidFill>
                <a:latin typeface="Noto Sans JP"/>
                <a:ea typeface="Noto Sans JP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945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1E3A5F"/>
                </a:solidFill>
                <a:latin typeface="Noto Sans JP"/>
                <a:ea typeface="Noto Sans JP"/>
              </a:rPr>
              <a:t>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2651760"/>
            <a:ext cx="3017520" cy="2194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2651760"/>
            <a:ext cx="301752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9718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500" b="1">
                <a:solidFill>
                  <a:srgbClr val="111111"/>
                </a:solidFill>
                <a:latin typeface="Noto Sans JP"/>
                <a:ea typeface="Noto Sans JP"/>
              </a:rPr>
              <a:t>富樫・葉山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81160" y="3566160"/>
            <a:ext cx="210312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06840" y="37033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デイリーで売上管理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666666"/>
                </a:solidFill>
                <a:latin typeface="Noto Sans JP"/>
                <a:ea typeface="Noto Sans JP"/>
              </a:rPr>
              <a:t>入金全体の管理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389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50" b="0">
                <a:solidFill>
                  <a:srgbClr val="8A8A8A"/>
                </a:solidFill>
                <a:latin typeface="Noto Sans JP"/>
                <a:ea typeface="Noto Sans JP"/>
              </a:rPr>
              <a:t>（今後は決済代行も想定）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提出物は「マーケの分析・セールス添削」を名目に必須化する。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02336" y="603504"/>
            <a:ext cx="310896" cy="0"/>
          </a:xfrm>
          <a:prstGeom prst="bentConnector3">
            <a:avLst/>
          </a:prstGeom>
          <a:ln w="2032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 rot="16200000">
            <a:off x="-960120" y="324612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>
                <a:solidFill>
                  <a:srgbClr val="8A8A8A"/>
                </a:solidFill>
                <a:latin typeface="Noto Sans JP"/>
                <a:ea typeface="Noto Sans JP"/>
              </a:rPr>
              <a:t>入出金フロー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548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Noto Sans JP"/>
                <a:ea typeface="Noto Sans JP"/>
              </a:rPr>
              <a:t>出金フロー（MODE-1 → 社内外）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2984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66666"/>
                </a:solidFill>
                <a:latin typeface="Noto Sans JP"/>
                <a:ea typeface="Noto Sans JP"/>
              </a:rPr>
              <a:t>報酬配分・経費承認・支払サイトのルールを定義する。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40280"/>
            <a:ext cx="10241280" cy="502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4028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対象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4028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報酬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240280"/>
            <a:ext cx="32918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Noto Sans JP"/>
                <a:ea typeface="Noto Sans JP"/>
              </a:rPr>
              <a:t>備考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743200"/>
            <a:ext cx="102412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743200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プロデューサー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43200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>
                <a:solidFill>
                  <a:srgbClr val="222222"/>
                </a:solidFill>
                <a:latin typeface="Noto Sans JP"/>
                <a:ea typeface="Noto Sans JP"/>
              </a:rPr>
              <a:t>①月5万 ／ </a:t>
            </a: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②利益の15%</a:t>
            </a: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（ラダー検討）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743200"/>
            <a:ext cx="32918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50%案件でも40%＋10万案件でも同率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493008"/>
            <a:ext cx="10241280" cy="74980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493008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作業者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493008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0">
                <a:solidFill>
                  <a:srgbClr val="222222"/>
                </a:solidFill>
                <a:latin typeface="Noto Sans JP"/>
                <a:ea typeface="Noto Sans JP"/>
              </a:rPr>
              <a:t>プロデューサーが15%内から配分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3493008"/>
            <a:ext cx="32918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本部で配分基準を設ける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242816"/>
            <a:ext cx="102412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242816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222222"/>
                </a:solidFill>
                <a:latin typeface="Noto Sans JP"/>
                <a:ea typeface="Noto Sans JP"/>
              </a:rPr>
              <a:t>経費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242816"/>
            <a:ext cx="4023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0">
                <a:solidFill>
                  <a:srgbClr val="222222"/>
                </a:solidFill>
                <a:latin typeface="Noto Sans JP"/>
                <a:ea typeface="Noto Sans JP"/>
              </a:rPr>
              <a:t>各作業により変動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4242816"/>
            <a:ext cx="32918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都度申告 → 承認 → 実行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" y="4992624"/>
            <a:ext cx="10241280" cy="0"/>
          </a:xfrm>
          <a:prstGeom prst="bentConnector3">
            <a:avLst/>
          </a:prstGeom>
          <a:ln w="1270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60120" y="5221224"/>
            <a:ext cx="4983479" cy="685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5221224"/>
            <a:ext cx="45720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21224"/>
            <a:ext cx="46177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外注費の先出しは </a:t>
            </a:r>
            <a:r>
              <a:rPr sz="1200" b="1">
                <a:solidFill>
                  <a:srgbClr val="111111"/>
                </a:solidFill>
                <a:latin typeface="Noto Sans JP"/>
                <a:ea typeface="Noto Sans JP"/>
              </a:rPr>
              <a:t>固定報酬クライアントのみ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 対象（プロデューサー50%負担）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19" y="5221224"/>
            <a:ext cx="4983479" cy="685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19" y="5221224"/>
            <a:ext cx="45720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799" y="5221224"/>
            <a:ext cx="46177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成果のみは </a:t>
            </a:r>
            <a:r>
              <a:rPr sz="1200" b="1">
                <a:solidFill>
                  <a:srgbClr val="111111"/>
                </a:solidFill>
                <a:latin typeface="Noto Sans JP"/>
                <a:ea typeface="Noto Sans JP"/>
              </a:rPr>
              <a:t>月締め・翌月10日払い</a:t>
            </a:r>
            <a:r>
              <a:rPr sz="1200" b="0">
                <a:solidFill>
                  <a:srgbClr val="666666"/>
                </a:solidFill>
                <a:latin typeface="Noto Sans JP"/>
                <a:ea typeface="Noto Sans JP"/>
              </a:rPr>
              <a:t>／外注先は翌月末払い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1089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38404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8A8A8A"/>
                </a:solidFill>
                <a:latin typeface="Noto Sans JP"/>
                <a:ea typeface="Noto Sans JP"/>
              </a:rPr>
              <a:t>MODE-1 ／ KNOWLEDGE 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1">
                <a:solidFill>
                  <a:srgbClr val="1E3A5F"/>
                </a:solidFill>
                <a:latin typeface="Noto Sans JP"/>
                <a:ea typeface="Noto Sans JP"/>
              </a:rPr>
              <a:t>SUMMARY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8408" y="2788920"/>
            <a:ext cx="457200" cy="0"/>
          </a:xfrm>
          <a:prstGeom prst="bentConnector3">
            <a:avLst/>
          </a:prstGeom>
          <a:ln w="25400">
            <a:solidFill>
              <a:srgbClr val="1E3A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1832" y="292608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111111"/>
                </a:solidFill>
                <a:latin typeface="Noto Sans JP"/>
                <a:ea typeface="Noto Sans JP"/>
              </a:rPr>
              <a:t>立ち上げ → 成果報酬 → グロースへ。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111111"/>
                </a:solidFill>
                <a:latin typeface="Noto Sans JP"/>
                <a:ea typeface="Noto Sans JP"/>
              </a:rPr>
              <a:t>リソースを、伸びる顧客に集中させる。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4892040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222222"/>
                </a:solidFill>
                <a:latin typeface="Noto Sans JP"/>
                <a:ea typeface="Noto Sans JP"/>
              </a:rPr>
              <a:t>⓪ KNOWLEDGE 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0752" y="4892040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4892040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222222"/>
                </a:solidFill>
                <a:latin typeface="Noto Sans JP"/>
                <a:ea typeface="Noto Sans JP"/>
              </a:rPr>
              <a:t>① 新規事業構築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1384" y="4892040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892040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222222"/>
                </a:solidFill>
                <a:latin typeface="Noto Sans JP"/>
                <a:ea typeface="Noto Sans JP"/>
              </a:rPr>
              <a:t>② ローンチ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4892040"/>
            <a:ext cx="2514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4892040"/>
            <a:ext cx="2514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50" b="1">
                <a:solidFill>
                  <a:srgbClr val="222222"/>
                </a:solidFill>
                <a:latin typeface="Noto Sans JP"/>
                <a:ea typeface="Noto Sans JP"/>
              </a:rPr>
              <a:t>③ グロース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8A8A8A"/>
                </a:solidFill>
                <a:latin typeface="Noto Sans JP"/>
                <a:ea typeface="Noto Sans JP"/>
              </a:rPr>
              <a:t>※ 料金の細部・各条件の数値は別途詰める。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</a:pPr>
            <a:r>
              <a:rPr sz="1100" b="0">
                <a:solidFill>
                  <a:srgbClr val="8A8A8A"/>
                </a:solidFill>
                <a:latin typeface="Noto Sans JP"/>
                <a:ea typeface="Noto Sans JP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